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615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NYC TLC — Exploratory Data Analysis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Automatidata  |  Course 2 EDA  |  2017 Yellow Taxi Trip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601968"/>
            <a:ext cx="1216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ADCFC"/>
                </a:solidFill>
                <a:latin typeface="Calibri"/>
              </a:rPr>
              <a:t>Automatidata  |  Confidential  |  For internal use only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987552"/>
            <a:ext cx="2194560" cy="658368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058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22,699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335024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ADCFC"/>
                </a:solidFill>
                <a:latin typeface="Calibri"/>
              </a:rPr>
              <a:t>Trip Records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33472" y="987552"/>
            <a:ext cx="2194560" cy="658368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33472" y="10058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$13.03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33472" y="1335024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ADCFC"/>
                </a:solidFill>
                <a:latin typeface="Calibri"/>
              </a:rPr>
              <a:t>Mean Fare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38344" y="987552"/>
            <a:ext cx="2194560" cy="658368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38344" y="10058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2.91 mi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8344" y="1335024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ADCFC"/>
                </a:solidFill>
                <a:latin typeface="Calibri"/>
              </a:rPr>
              <a:t>Mean Distance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43216" y="987552"/>
            <a:ext cx="2194560" cy="658368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6" y="10058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6" y="1335024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ADCFC"/>
                </a:solidFill>
                <a:latin typeface="Calibri"/>
              </a:rPr>
              <a:t>Credit Card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48088" y="987552"/>
            <a:ext cx="2194560" cy="658368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48088" y="10058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48088" y="1335024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ADCFC"/>
                </a:solidFill>
                <a:latin typeface="Calibri"/>
              </a:rPr>
              <a:t>Drop-off Zones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1783080"/>
            <a:ext cx="5577840" cy="2651760"/>
          </a:xfrm>
          <a:prstGeom prst="rect">
            <a:avLst/>
          </a:prstGeom>
          <a:solidFill>
            <a:srgbClr val="E8F0F7"/>
          </a:solidFill>
          <a:ln>
            <a:solidFill>
              <a:srgbClr val="E8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" y="1783080"/>
            <a:ext cx="91440" cy="2651760"/>
          </a:xfrm>
          <a:prstGeom prst="rect">
            <a:avLst/>
          </a:prstGeom>
          <a:solidFill>
            <a:srgbClr val="065A82"/>
          </a:solidFill>
          <a:ln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182880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65A82"/>
                </a:solidFill>
                <a:latin typeface="Calibri"/>
              </a:rPr>
              <a:t>EDA FINDINGS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2084831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• Ride demand peaks Wednesday–Friday and spring months (March–June). Summer (July–September) shows lower demand — contrary to expectations, likely driven by NYC residents leaving the city.
• Revenue mirrors ride count patterns — higher midweek and spring, lower summer and Sundays.
• Trip distances are right-skewed — most trips under 5 miles (median 1.61 mi), with a long tail of outliers.
• Tip amounts consistent regardless of passenger count ($1.53–$2.14). Cash tips unrecorded — tip analysis incomplete without this caveat.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1783080"/>
            <a:ext cx="5577840" cy="2651760"/>
          </a:xfrm>
          <a:prstGeom prst="rect">
            <a:avLst/>
          </a:prstGeom>
          <a:solidFill>
            <a:srgbClr val="EBF4F8"/>
          </a:solidFill>
          <a:ln>
            <a:solidFill>
              <a:srgbClr val="EB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1783080"/>
            <a:ext cx="91440" cy="2651760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65392" y="182880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C7293"/>
                </a:solidFill>
                <a:latin typeface="Calibri"/>
              </a:rPr>
              <a:t>VISUAL 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2084831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8096"/>
                </a:solidFill>
                <a:latin typeface="Calibri"/>
              </a:rPr>
              <a:t>Trip Distance vs. Fare Amount — Tableau scatter plot (to be inserted)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2395728"/>
            <a:ext cx="5303520" cy="1965960"/>
          </a:xfrm>
          <a:prstGeom prst="rect">
            <a:avLst/>
          </a:prstGeom>
          <a:solidFill>
            <a:srgbClr val="F0F4F8"/>
          </a:solidFill>
          <a:ln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200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0AEC0"/>
                </a:solidFill>
                <a:latin typeface="Calibri"/>
              </a:rPr>
              <a:t>[ Tableau scatter plot to be inserted here 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4572000"/>
            <a:ext cx="5577840" cy="1828800"/>
          </a:xfrm>
          <a:prstGeom prst="rect">
            <a:avLst/>
          </a:prstGeom>
          <a:solidFill>
            <a:srgbClr val="FEF9EC"/>
          </a:solidFill>
          <a:ln>
            <a:solidFill>
              <a:srgbClr val="FEF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572000"/>
            <a:ext cx="91440" cy="1828800"/>
          </a:xfrm>
          <a:prstGeom prst="rect">
            <a:avLst/>
          </a:prstGeom>
          <a:solidFill>
            <a:srgbClr val="D69E2E"/>
          </a:solidFill>
          <a:ln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461772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69E2E"/>
                </a:solidFill>
                <a:latin typeface="Calibri"/>
              </a:rPr>
              <a:t>OUTLIER HANDLING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" y="4864608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• Identified using IQR method (values beyond Q1 − 1.5×IQR or Q3 + 1.5×IQR) and box plot inspection.
• Exclude: negative fares/totals (payment reversals), zero trip distances, RatecodeID = 99.
• Flag but retain: trips &gt;30 miles (plausible edge case), fare cap at $999.99 (system limitation).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4572000"/>
            <a:ext cx="5577840" cy="1828800"/>
          </a:xfrm>
          <a:prstGeom prst="rect">
            <a:avLst/>
          </a:prstGeom>
          <a:solidFill>
            <a:srgbClr val="EDF7F0"/>
          </a:solidFill>
          <a:ln>
            <a:solidFill>
              <a:srgbClr val="ED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5080" y="4572000"/>
            <a:ext cx="91440" cy="1828800"/>
          </a:xfrm>
          <a:prstGeom prst="rect">
            <a:avLst/>
          </a:prstGeom>
          <a:solidFill>
            <a:srgbClr val="38A169"/>
          </a:solidFill>
          <a:ln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5392" y="461772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8A169"/>
                </a:solidFill>
                <a:latin typeface="Calibri"/>
              </a:rPr>
              <a:t>NEXT STEPS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65392" y="4864608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• Clean data quality issues — remove negative fares, zero distances, invalid RatecodeID records.
• Derive trip_duration from datetime columns for time-based feature engineering.
• Proceed to hypothesis testing and statistical analysis before model building.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