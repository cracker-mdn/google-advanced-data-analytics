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Random Forest</c:v>
                </c:pt>
              </c:strCache>
            </c:strRef>
          </c:tx>
          <c:spPr>
            <a:solidFill>
              <a:srgbClr val="6E7C87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0F2C4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Precision</c:v>
                  </c:pt>
                  <c:pt idx="1">
                    <c:v>Recall</c:v>
                  </c:pt>
                  <c:pt idx="2">
                    <c:v>F1</c:v>
                  </c:pt>
                  <c:pt idx="3">
                    <c:v>Accuracy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0.69</c:v>
                </c:pt>
                <c:pt idx="1">
                  <c:v>0.79</c:v>
                </c:pt>
                <c:pt idx="2">
                  <c:v>0.737</c:v>
                </c:pt>
                <c:pt idx="3">
                  <c:v>0.703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XGBoost (champion)</c:v>
                </c:pt>
              </c:strCache>
            </c:strRef>
          </c:tx>
          <c:spPr>
            <a:solidFill>
              <a:srgbClr val="F5C518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0F2C4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Precision</c:v>
                  </c:pt>
                  <c:pt idx="1">
                    <c:v>Recall</c:v>
                  </c:pt>
                  <c:pt idx="2">
                    <c:v>F1</c:v>
                  </c:pt>
                  <c:pt idx="3">
                    <c:v>Accuracy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0.694</c:v>
                </c:pt>
                <c:pt idx="1">
                  <c:v>0.805</c:v>
                </c:pt>
                <c:pt idx="2">
                  <c:v>0.745</c:v>
                </c:pt>
                <c:pt idx="3">
                  <c:v>0.71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850" u="none">
                  <a:solidFill>
                    <a:srgbClr val="0F2C4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36474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9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4F6F9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36474F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02920" cy="502920"/>
          </a:xfrm>
          <a:prstGeom prst="ellipse">
            <a:avLst/>
          </a:prstGeom>
          <a:solidFill>
            <a:srgbClr val="0F2C4A"/>
          </a:solidFill>
          <a:ln w="12700">
            <a:solidFill>
              <a:srgbClr val="0F2C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097280" y="3017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0F2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NYC TLC Generous Tipper Prediction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1097280" y="69494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6E7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  ·  Automatidata for NYC Taxi &amp; Limousine Commission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8503920" y="4114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C99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5  ·  MACHINE LEARNING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57200" y="1207008"/>
            <a:ext cx="11247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C99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444752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6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and compared two ensemble classifiers — Random Forest and XGBoost — to predict which credit-card riders are likely to tip generously (≥20%), using pre-ride trip features engineered from the 2017 Yellow Taxi Trip dataset (15,265 credit-card trips). XGBoost was selected as the champion model based on cross-validated and held-out test performance.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57200" y="2121408"/>
            <a:ext cx="5486400" cy="1993392"/>
          </a:xfrm>
          <a:prstGeom prst="roundRect">
            <a:avLst>
              <a:gd name="adj" fmla="val 3670"/>
            </a:avLst>
          </a:prstGeom>
          <a:solidFill>
            <a:srgbClr val="F4F6F9"/>
          </a:solidFill>
          <a:ln w="9525">
            <a:solidFill>
              <a:srgbClr val="E2E7ED"/>
            </a:solidFill>
            <a:prstDash val="solid"/>
          </a:ln>
          <a:effectLst>
            <a:outerShdw sx="100000" sy="100000" kx="0" ky="0" algn="bl" rotWithShape="0" blurRad="76200" dist="25400" dir="8100000">
              <a:srgbClr val="1A2B3C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13232" y="2359152"/>
            <a:ext cx="128016" cy="128016"/>
          </a:xfrm>
          <a:prstGeom prst="ellipse">
            <a:avLst/>
          </a:prstGeom>
          <a:solidFill>
            <a:srgbClr val="0F2C4A"/>
          </a:solidFill>
          <a:ln w="12700">
            <a:solidFill>
              <a:srgbClr val="0F2C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32688" y="2267712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2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&amp; Approach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1520" y="2651760"/>
            <a:ext cx="4937760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6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generous tippers (≥20% tip) as an informational signal for drivers.</a:t>
            </a:r>
            <a:endParaRPr lang="en-US" sz="1100" dirty="0"/>
          </a:p>
          <a:p>
            <a:pPr algn="l" marL="177800" indent="-1778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6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Compared Random Forest vs. XGBoost via 4-fold cross-validated grid search.</a:t>
            </a:r>
            <a:endParaRPr lang="en-US" sz="1100" dirty="0"/>
          </a:p>
          <a:p>
            <a:pPr algn="l" marL="177800" indent="-1778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6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Prioritized F1 — false positives and false negatives both carry real costs.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17920" y="2121408"/>
            <a:ext cx="5486400" cy="1993392"/>
          </a:xfrm>
          <a:prstGeom prst="roundRect">
            <a:avLst>
              <a:gd name="adj" fmla="val 3670"/>
            </a:avLst>
          </a:prstGeom>
          <a:solidFill>
            <a:srgbClr val="F4F6F9"/>
          </a:solidFill>
          <a:ln w="9525">
            <a:solidFill>
              <a:srgbClr val="E2E7ED"/>
            </a:solidFill>
            <a:prstDash val="solid"/>
          </a:ln>
          <a:effectLst>
            <a:outerShdw sx="100000" sy="100000" kx="0" ky="0" algn="bl" rotWithShape="0" blurRad="76200" dist="25400" dir="8100000">
              <a:srgbClr val="1A2B3C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73952" y="2359152"/>
            <a:ext cx="128016" cy="128016"/>
          </a:xfrm>
          <a:prstGeom prst="ellipse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93408" y="2267712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2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Performance (Test Set)</a:t>
            </a:r>
            <a:endParaRPr lang="en-US" sz="1400" dirty="0"/>
          </a:p>
        </p:txBody>
      </p:sp>
      <p:graphicFrame>
        <p:nvGraphicFramePr>
          <p:cNvPr id="16" name="Chart 0" descr=""/>
          <p:cNvGraphicFramePr/>
          <p:nvPr/>
        </p:nvGraphicFramePr>
        <p:xfrm>
          <a:off x="6446520" y="2624328"/>
          <a:ext cx="5029200" cy="133502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7" name="Shape 14"/>
          <p:cNvSpPr/>
          <p:nvPr/>
        </p:nvSpPr>
        <p:spPr>
          <a:xfrm>
            <a:off x="457200" y="4389120"/>
            <a:ext cx="5486400" cy="1993392"/>
          </a:xfrm>
          <a:prstGeom prst="roundRect">
            <a:avLst>
              <a:gd name="adj" fmla="val 3670"/>
            </a:avLst>
          </a:prstGeom>
          <a:solidFill>
            <a:srgbClr val="F4F6F9"/>
          </a:solidFill>
          <a:ln w="9525">
            <a:solidFill>
              <a:srgbClr val="E2E7ED"/>
            </a:solidFill>
            <a:prstDash val="solid"/>
          </a:ln>
          <a:effectLst>
            <a:outerShdw sx="100000" sy="100000" kx="0" ky="0" algn="bl" rotWithShape="0" blurRad="76200" dist="25400" dir="8100000">
              <a:srgbClr val="1A2B3C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713232" y="4626864"/>
            <a:ext cx="128016" cy="128016"/>
          </a:xfrm>
          <a:prstGeom prst="ellipse">
            <a:avLst/>
          </a:prstGeom>
          <a:solidFill>
            <a:srgbClr val="1E8E5A"/>
          </a:solidFill>
          <a:ln w="12700">
            <a:solidFill>
              <a:srgbClr val="1E8E5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32688" y="4535424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2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 &amp; Limitations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731520" y="4919472"/>
            <a:ext cx="4937760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6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Clears the acceptability bar on all metrics; generalizes well.</a:t>
            </a:r>
            <a:endParaRPr lang="en-US" sz="1100" dirty="0"/>
          </a:p>
          <a:p>
            <a:pPr algn="l" marL="177800" indent="-1778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6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to credit-card riders (67%) — no cash tip data exists.</a:t>
            </a:r>
            <a:endParaRPr lang="en-US" sz="1100" dirty="0"/>
          </a:p>
          <a:p>
            <a:pPr algn="l" marL="177800" indent="-1778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6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false positives (571) than false negatives (313).</a:t>
            </a:r>
            <a:endParaRPr lang="en-US" sz="1100" dirty="0"/>
          </a:p>
          <a:p>
            <a:pPr algn="l" marL="177800" indent="-1778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6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feature (VendorID) may reflect terminal design, not riders.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6217920" y="4389120"/>
            <a:ext cx="5486400" cy="1993392"/>
          </a:xfrm>
          <a:prstGeom prst="roundRect">
            <a:avLst>
              <a:gd name="adj" fmla="val 3670"/>
            </a:avLst>
          </a:prstGeom>
          <a:solidFill>
            <a:srgbClr val="F4F6F9"/>
          </a:solidFill>
          <a:ln w="9525">
            <a:solidFill>
              <a:srgbClr val="E2E7ED"/>
            </a:solidFill>
            <a:prstDash val="solid"/>
          </a:ln>
          <a:effectLst>
            <a:outerShdw sx="100000" sy="100000" kx="0" ky="0" algn="bl" rotWithShape="0" blurRad="76200" dist="25400" dir="8100000">
              <a:srgbClr val="1A2B3C">
                <a:alpha val="12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6473952" y="4626864"/>
            <a:ext cx="128016" cy="128016"/>
          </a:xfrm>
          <a:prstGeom prst="ellipse">
            <a:avLst/>
          </a:prstGeom>
          <a:solidFill>
            <a:srgbClr val="B3560C"/>
          </a:solidFill>
          <a:ln w="12700">
            <a:solidFill>
              <a:srgbClr val="B3560C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693408" y="4535424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2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 &amp; Next Steps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6492240" y="4919472"/>
            <a:ext cx="4937760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6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as an informational signal only, not a service factor.</a:t>
            </a:r>
            <a:endParaRPr lang="en-US" sz="1100" dirty="0"/>
          </a:p>
          <a:p>
            <a:pPr algn="l" marL="177800" indent="-1778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6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whether VendorID reflects vendor-specific tip UI.</a:t>
            </a:r>
            <a:endParaRPr lang="en-US" sz="1100" dirty="0"/>
          </a:p>
          <a:p>
            <a:pPr algn="l" marL="177800" indent="-1778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6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Cash-rider coverage needs new data; not currently supported.</a:t>
            </a:r>
            <a:endParaRPr lang="en-US" sz="1100" dirty="0"/>
          </a:p>
          <a:p>
            <a:pPr algn="l" marL="177800" indent="-1778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6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threshold tuning to reduce the false-positive rate.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457200" y="6510528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E7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Automatidata × NYC TLC  |  Course 5 End-of-Course Project  |  Google Advanced Data Analytics Certificate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NYC TLC Generous Tipper Prediction — Executive Summary</dc:title>
  <dc:subject>PptxGenJS Presentation</dc:subject>
  <dc:creator>Automatidata</dc:creator>
  <cp:lastModifiedBy>Automatidata</cp:lastModifiedBy>
  <cp:revision>1</cp:revision>
  <dcterms:created xsi:type="dcterms:W3CDTF">2026-07-30T10:06:44Z</dcterms:created>
  <dcterms:modified xsi:type="dcterms:W3CDTF">2026-07-30T10:06:44Z</dcterms:modified>
</cp:coreProperties>
</file>