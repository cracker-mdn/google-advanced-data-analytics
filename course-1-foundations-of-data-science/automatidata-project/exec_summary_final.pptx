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B3A6B"/>
          </a:solidFill>
          <a:ln w="12700">
            <a:solidFill>
              <a:srgbClr val="1B3A6B"/>
            </a:solidFill>
            <a:prstDash val="solid"/>
          </a:ln>
        </p:spPr>
      </p:sp>
      <p:sp>
        <p:nvSpPr>
          <p:cNvPr id="3" name="Text 1"/>
          <p:cNvSpPr/>
          <p:nvPr/>
        </p:nvSpPr>
        <p:spPr>
          <a:xfrm>
            <a:off x="365760" y="91440"/>
            <a:ext cx="86868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NYC TLC — Dataset Inspection Summary</a:t>
            </a:r>
            <a:endParaRPr lang="en-US" sz="2000" dirty="0"/>
          </a:p>
        </p:txBody>
      </p:sp>
      <p:sp>
        <p:nvSpPr>
          <p:cNvPr id="4" name="Text 2"/>
          <p:cNvSpPr/>
          <p:nvPr/>
        </p:nvSpPr>
        <p:spPr>
          <a:xfrm>
            <a:off x="365760" y="475488"/>
            <a:ext cx="9144000" cy="228600"/>
          </a:xfrm>
          <a:prstGeom prst="rect">
            <a:avLst/>
          </a:prstGeom>
          <a:noFill/>
          <a:ln/>
        </p:spPr>
        <p:txBody>
          <a:bodyPr wrap="square" lIns="0" tIns="0" rIns="0" bIns="0" rtlCol="0" anchor="ctr"/>
          <a:lstStyle/>
          <a:p>
            <a:pPr indent="0" marL="0">
              <a:buNone/>
            </a:pPr>
            <a:r>
              <a:rPr lang="en-US" sz="950" dirty="0">
                <a:solidFill>
                  <a:srgbClr val="A8C4E0"/>
                </a:solidFill>
                <a:latin typeface="Calibri" pitchFamily="34" charset="0"/>
                <a:ea typeface="Calibri" pitchFamily="34" charset="-122"/>
                <a:cs typeface="Calibri" pitchFamily="34" charset="-120"/>
              </a:rPr>
              <a:t>Automatidata  |  Course 1 Executive Summary  |  2017 Yellow Taxi Trip Data</a:t>
            </a:r>
            <a:endParaRPr lang="en-US" sz="950" dirty="0"/>
          </a:p>
        </p:txBody>
      </p:sp>
      <p:sp>
        <p:nvSpPr>
          <p:cNvPr id="5" name="Shape 3"/>
          <p:cNvSpPr/>
          <p:nvPr/>
        </p:nvSpPr>
        <p:spPr>
          <a:xfrm>
            <a:off x="0" y="6583680"/>
            <a:ext cx="12161520" cy="274320"/>
          </a:xfrm>
          <a:prstGeom prst="rect">
            <a:avLst/>
          </a:prstGeom>
          <a:solidFill>
            <a:srgbClr val="1B3A6B"/>
          </a:solidFill>
          <a:ln w="12700">
            <a:solidFill>
              <a:srgbClr val="1B3A6B"/>
            </a:solidFill>
            <a:prstDash val="solid"/>
          </a:ln>
        </p:spPr>
      </p:sp>
      <p:sp>
        <p:nvSpPr>
          <p:cNvPr id="6" name="Text 4"/>
          <p:cNvSpPr/>
          <p:nvPr/>
        </p:nvSpPr>
        <p:spPr>
          <a:xfrm>
            <a:off x="0" y="6601968"/>
            <a:ext cx="12161520" cy="201168"/>
          </a:xfrm>
          <a:prstGeom prst="rect">
            <a:avLst/>
          </a:prstGeom>
          <a:noFill/>
          <a:ln/>
        </p:spPr>
        <p:txBody>
          <a:bodyPr wrap="square" lIns="0" tIns="0" rIns="0" bIns="0" rtlCol="0" anchor="ctr"/>
          <a:lstStyle/>
          <a:p>
            <a:pPr algn="ctr" indent="0" marL="0">
              <a:buNone/>
            </a:pPr>
            <a:r>
              <a:rPr lang="en-US" sz="750" dirty="0">
                <a:solidFill>
                  <a:srgbClr val="A8C4E0"/>
                </a:solidFill>
                <a:latin typeface="Calibri" pitchFamily="34" charset="0"/>
                <a:ea typeface="Calibri" pitchFamily="34" charset="-122"/>
                <a:cs typeface="Calibri" pitchFamily="34" charset="-120"/>
              </a:rPr>
              <a:t>Automatidata  |  Confidential  |  For internal use only</a:t>
            </a:r>
            <a:endParaRPr lang="en-US" sz="750" dirty="0"/>
          </a:p>
        </p:txBody>
      </p:sp>
      <p:sp>
        <p:nvSpPr>
          <p:cNvPr id="7" name="Shape 5"/>
          <p:cNvSpPr/>
          <p:nvPr/>
        </p:nvSpPr>
        <p:spPr>
          <a:xfrm>
            <a:off x="228600" y="914400"/>
            <a:ext cx="5577840" cy="1417320"/>
          </a:xfrm>
          <a:prstGeom prst="rect">
            <a:avLst/>
          </a:prstGeom>
          <a:solidFill>
            <a:srgbClr val="FFFFFF"/>
          </a:solidFill>
          <a:ln w="12700">
            <a:solidFill>
              <a:srgbClr val="E0E8F0"/>
            </a:solidFill>
            <a:prstDash val="solid"/>
          </a:ln>
          <a:effectLst>
            <a:outerShdw sx="100000" sy="100000" kx="0" ky="0" algn="bl" rotWithShape="0" blurRad="50800" dist="25400" dir="8100000">
              <a:srgbClr val="000000">
                <a:alpha val="10000"/>
              </a:srgbClr>
            </a:outerShdw>
          </a:effectLst>
        </p:spPr>
      </p:sp>
      <p:sp>
        <p:nvSpPr>
          <p:cNvPr id="8" name="Shape 6"/>
          <p:cNvSpPr/>
          <p:nvPr/>
        </p:nvSpPr>
        <p:spPr>
          <a:xfrm>
            <a:off x="228600" y="914400"/>
            <a:ext cx="91440" cy="1417320"/>
          </a:xfrm>
          <a:prstGeom prst="rect">
            <a:avLst/>
          </a:prstGeom>
          <a:solidFill>
            <a:srgbClr val="1B3A6B"/>
          </a:solidFill>
          <a:ln w="12700">
            <a:solidFill>
              <a:srgbClr val="1B3A6B"/>
            </a:solidFill>
            <a:prstDash val="solid"/>
          </a:ln>
        </p:spPr>
      </p:sp>
      <p:sp>
        <p:nvSpPr>
          <p:cNvPr id="9" name="Text 7"/>
          <p:cNvSpPr/>
          <p:nvPr/>
        </p:nvSpPr>
        <p:spPr>
          <a:xfrm>
            <a:off x="438912" y="969264"/>
            <a:ext cx="5212080" cy="201168"/>
          </a:xfrm>
          <a:prstGeom prst="rect">
            <a:avLst/>
          </a:prstGeom>
          <a:noFill/>
          <a:ln/>
        </p:spPr>
        <p:txBody>
          <a:bodyPr wrap="square" lIns="0" tIns="0" rIns="0" bIns="0" rtlCol="0" anchor="ctr"/>
          <a:lstStyle/>
          <a:p>
            <a:pPr indent="0" marL="0">
              <a:buNone/>
            </a:pPr>
            <a:r>
              <a:rPr lang="en-US" sz="800" b="1" spc="200" kern="0" dirty="0">
                <a:solidFill>
                  <a:srgbClr val="1B3A6B"/>
                </a:solidFill>
                <a:latin typeface="Calibri" pitchFamily="34" charset="0"/>
                <a:ea typeface="Calibri" pitchFamily="34" charset="-122"/>
                <a:cs typeface="Calibri" pitchFamily="34" charset="-120"/>
              </a:rPr>
              <a:t>OVERVIEW</a:t>
            </a:r>
            <a:endParaRPr lang="en-US" sz="800" dirty="0"/>
          </a:p>
        </p:txBody>
      </p:sp>
      <p:sp>
        <p:nvSpPr>
          <p:cNvPr id="10" name="Text 8"/>
          <p:cNvSpPr/>
          <p:nvPr/>
        </p:nvSpPr>
        <p:spPr>
          <a:xfrm>
            <a:off x="438912" y="1188720"/>
            <a:ext cx="5257800" cy="105156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Automatidata is consulting for the NYC Taxi &amp; Limousine Commission (TLC) to build a fare prediction model. As the newest team member, my task was to inspect the TLC dataset, identify key variables, flag data quality issues, and prepare initial findings ahead of exploratory data analysis.</a:t>
            </a:r>
            <a:endParaRPr lang="en-US" sz="1000" dirty="0"/>
          </a:p>
        </p:txBody>
      </p:sp>
      <p:sp>
        <p:nvSpPr>
          <p:cNvPr id="11" name="Shape 9"/>
          <p:cNvSpPr/>
          <p:nvPr/>
        </p:nvSpPr>
        <p:spPr>
          <a:xfrm>
            <a:off x="6355080" y="914400"/>
            <a:ext cx="5577840" cy="1417320"/>
          </a:xfrm>
          <a:prstGeom prst="rect">
            <a:avLst/>
          </a:prstGeom>
          <a:solidFill>
            <a:srgbClr val="FFFFFF"/>
          </a:solidFill>
          <a:ln w="12700">
            <a:solidFill>
              <a:srgbClr val="E0E8F0"/>
            </a:solidFill>
            <a:prstDash val="solid"/>
          </a:ln>
          <a:effectLst>
            <a:outerShdw sx="100000" sy="100000" kx="0" ky="0" algn="bl" rotWithShape="0" blurRad="50800" dist="25400" dir="8100000">
              <a:srgbClr val="000000">
                <a:alpha val="10000"/>
              </a:srgbClr>
            </a:outerShdw>
          </a:effectLst>
        </p:spPr>
      </p:sp>
      <p:sp>
        <p:nvSpPr>
          <p:cNvPr id="12" name="Shape 10"/>
          <p:cNvSpPr/>
          <p:nvPr/>
        </p:nvSpPr>
        <p:spPr>
          <a:xfrm>
            <a:off x="6355080" y="914400"/>
            <a:ext cx="91440" cy="1417320"/>
          </a:xfrm>
          <a:prstGeom prst="rect">
            <a:avLst/>
          </a:prstGeom>
          <a:solidFill>
            <a:srgbClr val="E53E3E"/>
          </a:solidFill>
          <a:ln w="12700">
            <a:solidFill>
              <a:srgbClr val="E53E3E"/>
            </a:solidFill>
            <a:prstDash val="solid"/>
          </a:ln>
        </p:spPr>
      </p:sp>
      <p:sp>
        <p:nvSpPr>
          <p:cNvPr id="13" name="Text 11"/>
          <p:cNvSpPr/>
          <p:nvPr/>
        </p:nvSpPr>
        <p:spPr>
          <a:xfrm>
            <a:off x="6565392" y="969264"/>
            <a:ext cx="5212080" cy="201168"/>
          </a:xfrm>
          <a:prstGeom prst="rect">
            <a:avLst/>
          </a:prstGeom>
          <a:noFill/>
          <a:ln/>
        </p:spPr>
        <p:txBody>
          <a:bodyPr wrap="square" lIns="0" tIns="0" rIns="0" bIns="0" rtlCol="0" anchor="ctr"/>
          <a:lstStyle/>
          <a:p>
            <a:pPr indent="0" marL="0">
              <a:buNone/>
            </a:pPr>
            <a:r>
              <a:rPr lang="en-US" sz="800" b="1" spc="200" kern="0" dirty="0">
                <a:solidFill>
                  <a:srgbClr val="E53E3E"/>
                </a:solidFill>
                <a:latin typeface="Calibri" pitchFamily="34" charset="0"/>
                <a:ea typeface="Calibri" pitchFamily="34" charset="-122"/>
                <a:cs typeface="Calibri" pitchFamily="34" charset="-120"/>
              </a:rPr>
              <a:t>OBJECTIVE</a:t>
            </a:r>
            <a:endParaRPr lang="en-US" sz="800" dirty="0"/>
          </a:p>
        </p:txBody>
      </p:sp>
      <p:sp>
        <p:nvSpPr>
          <p:cNvPr id="14" name="Text 12"/>
          <p:cNvSpPr/>
          <p:nvPr/>
        </p:nvSpPr>
        <p:spPr>
          <a:xfrm>
            <a:off x="6565392" y="1188720"/>
            <a:ext cx="5257800" cy="105156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Inspect and prepare the TLC dataset to identify key variables, assess data quality, and lay the groundwork for future exploratory data analysis and fare prediction modeling.</a:t>
            </a:r>
            <a:endParaRPr lang="en-US" sz="1000" dirty="0"/>
          </a:p>
          <a:p>
            <a:pPr indent="0" marL="0">
              <a:buNone/>
            </a:pP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Dataset: 22,699 rows × 18 columns covering NYC taxi trips (2017).</a:t>
            </a:r>
            <a:endParaRPr lang="en-US" sz="1000" dirty="0"/>
          </a:p>
        </p:txBody>
      </p:sp>
      <p:sp>
        <p:nvSpPr>
          <p:cNvPr id="15" name="Shape 13"/>
          <p:cNvSpPr/>
          <p:nvPr/>
        </p:nvSpPr>
        <p:spPr>
          <a:xfrm>
            <a:off x="228600" y="2468880"/>
            <a:ext cx="5577840" cy="2560320"/>
          </a:xfrm>
          <a:prstGeom prst="rect">
            <a:avLst/>
          </a:prstGeom>
          <a:solidFill>
            <a:srgbClr val="FFFFFF"/>
          </a:solidFill>
          <a:ln w="12700">
            <a:solidFill>
              <a:srgbClr val="E0E8F0"/>
            </a:solidFill>
            <a:prstDash val="solid"/>
          </a:ln>
          <a:effectLst>
            <a:outerShdw sx="100000" sy="100000" kx="0" ky="0" algn="bl" rotWithShape="0" blurRad="50800" dist="25400" dir="8100000">
              <a:srgbClr val="000000">
                <a:alpha val="10000"/>
              </a:srgbClr>
            </a:outerShdw>
          </a:effectLst>
        </p:spPr>
      </p:sp>
      <p:sp>
        <p:nvSpPr>
          <p:cNvPr id="16" name="Shape 14"/>
          <p:cNvSpPr/>
          <p:nvPr/>
        </p:nvSpPr>
        <p:spPr>
          <a:xfrm>
            <a:off x="228600" y="2468880"/>
            <a:ext cx="91440" cy="2560320"/>
          </a:xfrm>
          <a:prstGeom prst="rect">
            <a:avLst/>
          </a:prstGeom>
          <a:solidFill>
            <a:srgbClr val="D69E2E"/>
          </a:solidFill>
          <a:ln w="12700">
            <a:solidFill>
              <a:srgbClr val="D69E2E"/>
            </a:solidFill>
            <a:prstDash val="solid"/>
          </a:ln>
        </p:spPr>
      </p:sp>
      <p:sp>
        <p:nvSpPr>
          <p:cNvPr id="17" name="Text 15"/>
          <p:cNvSpPr/>
          <p:nvPr/>
        </p:nvSpPr>
        <p:spPr>
          <a:xfrm>
            <a:off x="438912" y="2523744"/>
            <a:ext cx="5212080" cy="201168"/>
          </a:xfrm>
          <a:prstGeom prst="rect">
            <a:avLst/>
          </a:prstGeom>
          <a:noFill/>
          <a:ln/>
        </p:spPr>
        <p:txBody>
          <a:bodyPr wrap="square" lIns="0" tIns="0" rIns="0" bIns="0" rtlCol="0" anchor="ctr"/>
          <a:lstStyle/>
          <a:p>
            <a:pPr indent="0" marL="0">
              <a:buNone/>
            </a:pPr>
            <a:r>
              <a:rPr lang="en-US" sz="800" b="1" spc="200" kern="0" dirty="0">
                <a:solidFill>
                  <a:srgbClr val="D69E2E"/>
                </a:solidFill>
                <a:latin typeface="Calibri" pitchFamily="34" charset="0"/>
                <a:ea typeface="Calibri" pitchFamily="34" charset="-122"/>
                <a:cs typeface="Calibri" pitchFamily="34" charset="-120"/>
              </a:rPr>
              <a:t>RESULTS</a:t>
            </a:r>
            <a:endParaRPr lang="en-US" sz="800" dirty="0"/>
          </a:p>
        </p:txBody>
      </p:sp>
      <p:sp>
        <p:nvSpPr>
          <p:cNvPr id="18" name="Text 16"/>
          <p:cNvSpPr/>
          <p:nvPr/>
        </p:nvSpPr>
        <p:spPr>
          <a:xfrm>
            <a:off x="438912" y="2761488"/>
            <a:ext cx="5257800" cy="2176272"/>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D3748"/>
                </a:solidFill>
                <a:latin typeface="Calibri" pitchFamily="34" charset="0"/>
                <a:ea typeface="Calibri" pitchFamily="34" charset="-122"/>
                <a:cs typeface="Calibri" pitchFamily="34" charset="-120"/>
              </a:rPr>
              <a:t>Key variables for fare prediction: trip distance, pickup/dropoff location, and datetime columns (time of day, day of week).</a:t>
            </a:r>
            <a:endParaRPr lang="en-US" sz="1000" dirty="0"/>
          </a:p>
          <a:p>
            <a:pPr marL="342900" indent="-342900">
              <a:spcAft>
                <a:spcPts val="300"/>
              </a:spcAft>
              <a:buSzPct val="100000"/>
              <a:buChar char="•"/>
            </a:pPr>
            <a:r>
              <a:rPr lang="en-US" sz="1000" dirty="0">
                <a:solidFill>
                  <a:srgbClr val="2D3748"/>
                </a:solidFill>
                <a:latin typeface="Calibri" pitchFamily="34" charset="0"/>
                <a:ea typeface="Calibri" pitchFamily="34" charset="-122"/>
                <a:cs typeface="Calibri" pitchFamily="34" charset="-120"/>
              </a:rPr>
              <a:t>Median fare of $9.50 and median trip distance of 1.61 miles — typical for NYC city travel. Mean fare of $13.03 skewed upward by outliers.</a:t>
            </a:r>
            <a:endParaRPr lang="en-US" sz="1000" dirty="0"/>
          </a:p>
          <a:p>
            <a:pPr marL="342900" indent="-342900">
              <a:spcAft>
                <a:spcPts val="300"/>
              </a:spcAft>
              <a:buSzPct val="100000"/>
              <a:buChar char="•"/>
            </a:pPr>
            <a:r>
              <a:rPr lang="en-US" sz="1000" dirty="0">
                <a:solidFill>
                  <a:srgbClr val="2D3748"/>
                </a:solidFill>
                <a:latin typeface="Calibri" pitchFamily="34" charset="0"/>
                <a:ea typeface="Calibri" pitchFamily="34" charset="-122"/>
                <a:cs typeface="Calibri" pitchFamily="34" charset="-120"/>
              </a:rPr>
              <a:t>Credit card dominates at 67% of trips. Cash tips not recorded — average tip of $1.84 underestimates actual tipping behavior.</a:t>
            </a:r>
            <a:endParaRPr lang="en-US" sz="1000" dirty="0"/>
          </a:p>
          <a:p>
            <a:pPr marL="342900" indent="-342900">
              <a:buSzPct val="100000"/>
              <a:buChar char="•"/>
            </a:pPr>
            <a:r>
              <a:rPr lang="en-US" sz="1000" dirty="0">
                <a:solidFill>
                  <a:srgbClr val="2D3748"/>
                </a:solidFill>
                <a:latin typeface="Calibri" pitchFamily="34" charset="0"/>
                <a:ea typeface="Calibri" pitchFamily="34" charset="-122"/>
                <a:cs typeface="Calibri" pitchFamily="34" charset="-120"/>
              </a:rPr>
              <a:t>Data quality issues to clean: negative fare amounts, zero trip distances, zero passenger counts, invalid RatecodeID of 99, fare cap at $999.99, datetime columns stored as object type.</a:t>
            </a:r>
            <a:endParaRPr lang="en-US" sz="1000" dirty="0"/>
          </a:p>
        </p:txBody>
      </p:sp>
      <p:sp>
        <p:nvSpPr>
          <p:cNvPr id="19" name="Shape 17"/>
          <p:cNvSpPr/>
          <p:nvPr/>
        </p:nvSpPr>
        <p:spPr>
          <a:xfrm>
            <a:off x="6355080" y="2468880"/>
            <a:ext cx="5577840" cy="2560320"/>
          </a:xfrm>
          <a:prstGeom prst="rect">
            <a:avLst/>
          </a:prstGeom>
          <a:solidFill>
            <a:srgbClr val="FFFFFF"/>
          </a:solidFill>
          <a:ln w="12700">
            <a:solidFill>
              <a:srgbClr val="E0E8F0"/>
            </a:solidFill>
            <a:prstDash val="solid"/>
          </a:ln>
          <a:effectLst>
            <a:outerShdw sx="100000" sy="100000" kx="0" ky="0" algn="bl" rotWithShape="0" blurRad="50800" dist="25400" dir="8100000">
              <a:srgbClr val="000000">
                <a:alpha val="10000"/>
              </a:srgbClr>
            </a:outerShdw>
          </a:effectLst>
        </p:spPr>
      </p:sp>
      <p:sp>
        <p:nvSpPr>
          <p:cNvPr id="20" name="Shape 18"/>
          <p:cNvSpPr/>
          <p:nvPr/>
        </p:nvSpPr>
        <p:spPr>
          <a:xfrm>
            <a:off x="6355080" y="2468880"/>
            <a:ext cx="91440" cy="2560320"/>
          </a:xfrm>
          <a:prstGeom prst="rect">
            <a:avLst/>
          </a:prstGeom>
          <a:solidFill>
            <a:srgbClr val="718096"/>
          </a:solidFill>
          <a:ln w="12700">
            <a:solidFill>
              <a:srgbClr val="718096"/>
            </a:solidFill>
            <a:prstDash val="solid"/>
          </a:ln>
        </p:spPr>
      </p:sp>
      <p:sp>
        <p:nvSpPr>
          <p:cNvPr id="21" name="Text 19"/>
          <p:cNvSpPr/>
          <p:nvPr/>
        </p:nvSpPr>
        <p:spPr>
          <a:xfrm>
            <a:off x="6565392" y="2523744"/>
            <a:ext cx="5212080" cy="201168"/>
          </a:xfrm>
          <a:prstGeom prst="rect">
            <a:avLst/>
          </a:prstGeom>
          <a:noFill/>
          <a:ln/>
        </p:spPr>
        <p:txBody>
          <a:bodyPr wrap="square" lIns="0" tIns="0" rIns="0" bIns="0" rtlCol="0" anchor="ctr"/>
          <a:lstStyle/>
          <a:p>
            <a:pPr indent="0" marL="0">
              <a:buNone/>
            </a:pPr>
            <a:r>
              <a:rPr lang="en-US" sz="800" b="1" spc="200" kern="0" dirty="0">
                <a:solidFill>
                  <a:srgbClr val="718096"/>
                </a:solidFill>
                <a:latin typeface="Calibri" pitchFamily="34" charset="0"/>
                <a:ea typeface="Calibri" pitchFamily="34" charset="-122"/>
                <a:cs typeface="Calibri" pitchFamily="34" charset="-120"/>
              </a:rPr>
              <a:t>VISUAL EVIDENCE</a:t>
            </a:r>
            <a:endParaRPr lang="en-US" sz="800" dirty="0"/>
          </a:p>
        </p:txBody>
      </p:sp>
      <p:sp>
        <p:nvSpPr>
          <p:cNvPr id="22" name="Text 20"/>
          <p:cNvSpPr/>
          <p:nvPr/>
        </p:nvSpPr>
        <p:spPr>
          <a:xfrm>
            <a:off x="6565392" y="2743200"/>
            <a:ext cx="5212080" cy="27432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Trip Distance vs. Total Amount — outliers visible at short distances with high fares</a:t>
            </a:r>
            <a:endParaRPr lang="en-US" sz="900" dirty="0"/>
          </a:p>
        </p:txBody>
      </p:sp>
      <p:pic>
        <p:nvPicPr>
          <p:cNvPr id="23" name="Image 0" descr="preencoded.png">    </p:cNvPr>
          <p:cNvPicPr>
            <a:picLocks noChangeAspect="1"/>
          </p:cNvPicPr>
          <p:nvPr/>
        </p:nvPicPr>
        <p:blipFill>
          <a:blip r:embed="rId1"/>
          <a:stretch>
            <a:fillRect/>
          </a:stretch>
        </p:blipFill>
        <p:spPr>
          <a:xfrm>
            <a:off x="6492240" y="3035808"/>
            <a:ext cx="5303520" cy="1920240"/>
          </a:xfrm>
          <a:prstGeom prst="rect">
            <a:avLst/>
          </a:prstGeom>
        </p:spPr>
      </p:pic>
      <p:sp>
        <p:nvSpPr>
          <p:cNvPr id="24" name="Shape 21"/>
          <p:cNvSpPr/>
          <p:nvPr/>
        </p:nvSpPr>
        <p:spPr>
          <a:xfrm>
            <a:off x="228600" y="5166360"/>
            <a:ext cx="11704320" cy="1298448"/>
          </a:xfrm>
          <a:prstGeom prst="rect">
            <a:avLst/>
          </a:prstGeom>
          <a:solidFill>
            <a:srgbClr val="FFFFFF"/>
          </a:solidFill>
          <a:ln w="12700">
            <a:solidFill>
              <a:srgbClr val="E0E8F0"/>
            </a:solidFill>
            <a:prstDash val="solid"/>
          </a:ln>
          <a:effectLst>
            <a:outerShdw sx="100000" sy="100000" kx="0" ky="0" algn="bl" rotWithShape="0" blurRad="50800" dist="25400" dir="8100000">
              <a:srgbClr val="000000">
                <a:alpha val="10000"/>
              </a:srgbClr>
            </a:outerShdw>
          </a:effectLst>
        </p:spPr>
      </p:sp>
      <p:sp>
        <p:nvSpPr>
          <p:cNvPr id="25" name="Shape 22"/>
          <p:cNvSpPr/>
          <p:nvPr/>
        </p:nvSpPr>
        <p:spPr>
          <a:xfrm>
            <a:off x="228600" y="5166360"/>
            <a:ext cx="91440" cy="1298448"/>
          </a:xfrm>
          <a:prstGeom prst="rect">
            <a:avLst/>
          </a:prstGeom>
          <a:solidFill>
            <a:srgbClr val="38A169"/>
          </a:solidFill>
          <a:ln w="12700">
            <a:solidFill>
              <a:srgbClr val="38A169"/>
            </a:solidFill>
            <a:prstDash val="solid"/>
          </a:ln>
        </p:spPr>
      </p:sp>
      <p:sp>
        <p:nvSpPr>
          <p:cNvPr id="26" name="Text 23"/>
          <p:cNvSpPr/>
          <p:nvPr/>
        </p:nvSpPr>
        <p:spPr>
          <a:xfrm>
            <a:off x="438912" y="5221224"/>
            <a:ext cx="11338560" cy="201168"/>
          </a:xfrm>
          <a:prstGeom prst="rect">
            <a:avLst/>
          </a:prstGeom>
          <a:noFill/>
          <a:ln/>
        </p:spPr>
        <p:txBody>
          <a:bodyPr wrap="square" lIns="0" tIns="0" rIns="0" bIns="0" rtlCol="0" anchor="ctr"/>
          <a:lstStyle/>
          <a:p>
            <a:pPr indent="0" marL="0">
              <a:buNone/>
            </a:pPr>
            <a:r>
              <a:rPr lang="en-US" sz="800" b="1" spc="200" kern="0" dirty="0">
                <a:solidFill>
                  <a:srgbClr val="38A169"/>
                </a:solidFill>
                <a:latin typeface="Calibri" pitchFamily="34" charset="0"/>
                <a:ea typeface="Calibri" pitchFamily="34" charset="-122"/>
                <a:cs typeface="Calibri" pitchFamily="34" charset="-120"/>
              </a:rPr>
              <a:t>NEXT STEPS</a:t>
            </a:r>
            <a:endParaRPr lang="en-US" sz="800" dirty="0"/>
          </a:p>
        </p:txBody>
      </p:sp>
      <p:sp>
        <p:nvSpPr>
          <p:cNvPr id="27" name="Text 24"/>
          <p:cNvSpPr/>
          <p:nvPr/>
        </p:nvSpPr>
        <p:spPr>
          <a:xfrm>
            <a:off x="438912" y="5440680"/>
            <a:ext cx="11338560" cy="960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D3748"/>
                </a:solidFill>
                <a:latin typeface="Calibri" pitchFamily="34" charset="0"/>
                <a:ea typeface="Calibri" pitchFamily="34" charset="-122"/>
                <a:cs typeface="Calibri" pitchFamily="34" charset="-120"/>
              </a:rPr>
              <a:t>Clean data quality issues before EDA: negative fares, zero trip distances/passenger counts, invalid RatecodeID, system cap values, and convert datetime columns to proper type.</a:t>
            </a:r>
            <a:endParaRPr lang="en-US" sz="1000" dirty="0"/>
          </a:p>
          <a:p>
            <a:pPr marL="342900" indent="-342900">
              <a:buSzPct val="100000"/>
              <a:buChar char="•"/>
            </a:pPr>
            <a:r>
              <a:rPr lang="en-US" sz="1000" dirty="0">
                <a:solidFill>
                  <a:srgbClr val="2D3748"/>
                </a:solidFill>
                <a:latin typeface="Calibri" pitchFamily="34" charset="0"/>
                <a:ea typeface="Calibri" pitchFamily="34" charset="-122"/>
                <a:cs typeface="Calibri" pitchFamily="34" charset="-120"/>
              </a:rPr>
              <a:t>Gather additional data to strengthen the model: recorded cash tips, live traffic data, GPS-level location coordinates, weather data, and multi-year/seasonal trip data for broader pattern recognition.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2026-03-31T10:00:57Z</dcterms:created>
  <dcterms:modified xsi:type="dcterms:W3CDTF">2026-03-31T10:00:57Z</dcterms:modified>
</cp:coreProperties>
</file>